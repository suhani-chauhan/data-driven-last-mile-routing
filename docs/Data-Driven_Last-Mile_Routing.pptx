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97598"/>
            </a:solidFill>
          </c:spPr>
          <c:cat>
            <c:strRef>
              <c:f>Sheet1!$A$2:$A$16</c:f>
              <c:strCache>
                <c:ptCount val="15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  <c:pt idx="6">
                  <c:v>R7</c:v>
                </c:pt>
                <c:pt idx="7">
                  <c:v>R8</c:v>
                </c:pt>
                <c:pt idx="8">
                  <c:v>R9</c:v>
                </c:pt>
                <c:pt idx="9">
                  <c:v>R10</c:v>
                </c:pt>
                <c:pt idx="10">
                  <c:v>R11</c:v>
                </c:pt>
                <c:pt idx="11">
                  <c:v>R12</c:v>
                </c:pt>
                <c:pt idx="12">
                  <c:v>R13</c:v>
                </c:pt>
                <c:pt idx="13">
                  <c:v>R14</c:v>
                </c:pt>
                <c:pt idx="14">
                  <c:v>R15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0.08382</c:v>
                </c:pt>
                <c:pt idx="1">
                  <c:v>0.066735</c:v>
                </c:pt>
                <c:pt idx="2">
                  <c:v>0.035128</c:v>
                </c:pt>
                <c:pt idx="3">
                  <c:v>0.036325</c:v>
                </c:pt>
                <c:pt idx="4">
                  <c:v>0.059105</c:v>
                </c:pt>
                <c:pt idx="5">
                  <c:v>0.052471</c:v>
                </c:pt>
                <c:pt idx="6">
                  <c:v>0.043813</c:v>
                </c:pt>
                <c:pt idx="7">
                  <c:v>0.049667</c:v>
                </c:pt>
                <c:pt idx="8">
                  <c:v>0.105991</c:v>
                </c:pt>
                <c:pt idx="9">
                  <c:v>0.146613</c:v>
                </c:pt>
                <c:pt idx="10">
                  <c:v>0.0846</c:v>
                </c:pt>
                <c:pt idx="11">
                  <c:v>0.095969</c:v>
                </c:pt>
                <c:pt idx="12">
                  <c:v>0.126596</c:v>
                </c:pt>
                <c:pt idx="13">
                  <c:v>0.041761</c:v>
                </c:pt>
                <c:pt idx="14">
                  <c:v>0.063809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4FD9CB"/>
            </a:solidFill>
          </c:spPr>
          <c:cat>
            <c:strRef>
              <c:f>Sheet1!$A$2:$A$16</c:f>
              <c:strCache>
                <c:ptCount val="15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  <c:pt idx="6">
                  <c:v>R7</c:v>
                </c:pt>
                <c:pt idx="7">
                  <c:v>R8</c:v>
                </c:pt>
                <c:pt idx="8">
                  <c:v>R9</c:v>
                </c:pt>
                <c:pt idx="9">
                  <c:v>R10</c:v>
                </c:pt>
                <c:pt idx="10">
                  <c:v>R11</c:v>
                </c:pt>
                <c:pt idx="11">
                  <c:v>R12</c:v>
                </c:pt>
                <c:pt idx="12">
                  <c:v>R13</c:v>
                </c:pt>
                <c:pt idx="13">
                  <c:v>R14</c:v>
                </c:pt>
                <c:pt idx="14">
                  <c:v>R15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0.061253</c:v>
                </c:pt>
                <c:pt idx="1">
                  <c:v>0.011298</c:v>
                </c:pt>
                <c:pt idx="2">
                  <c:v>0.043759</c:v>
                </c:pt>
                <c:pt idx="3">
                  <c:v>0.041066</c:v>
                </c:pt>
                <c:pt idx="4">
                  <c:v>0.06267</c:v>
                </c:pt>
                <c:pt idx="5">
                  <c:v>0.0328</c:v>
                </c:pt>
                <c:pt idx="6">
                  <c:v>0.038516</c:v>
                </c:pt>
                <c:pt idx="7">
                  <c:v>0.064055</c:v>
                </c:pt>
                <c:pt idx="8">
                  <c:v>0.062289</c:v>
                </c:pt>
                <c:pt idx="9">
                  <c:v>0.030827</c:v>
                </c:pt>
                <c:pt idx="10">
                  <c:v>0.060897</c:v>
                </c:pt>
                <c:pt idx="11">
                  <c:v>0.065489</c:v>
                </c:pt>
                <c:pt idx="12">
                  <c:v>0.084572</c:v>
                </c:pt>
                <c:pt idx="13">
                  <c:v>0.029105</c:v>
                </c:pt>
                <c:pt idx="14">
                  <c:v>0.057663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324A"/>
            </a:solidFill>
          </a:ln>
        </c:spPr>
        <c:txPr>
          <a:bodyPr/>
          <a:lstStyle/>
          <a:p>
            <a:pPr>
              <a:defRPr sz="900">
                <a:solidFill>
                  <a:srgbClr val="9AA5B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8324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8324A"/>
            </a:solidFill>
          </a:ln>
        </c:spPr>
        <c:txPr>
          <a:bodyPr/>
          <a:lstStyle/>
          <a:p>
            <a:pPr>
              <a:defRPr sz="900">
                <a:solidFill>
                  <a:srgbClr val="9AA5B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9AA5BF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720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8A45"/>
                </a:solidFill>
                <a:latin typeface="Consolas"/>
              </a:rPr>
              <a:t>CAPSTONE PROJECT — LOGISTICS · ML ·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6720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</a:pPr>
            <a:r>
              <a:rPr sz="4400" b="1" i="0">
                <a:solidFill>
                  <a:srgbClr val="EAEEF6"/>
                </a:solidFill>
                <a:latin typeface="Segoe UI"/>
              </a:rPr>
              <a:t>Data-Driven</a:t>
            </a:r>
          </a:p>
          <a:p>
            <a:pPr>
              <a:lnSpc>
                <a:spcPct val="103000"/>
              </a:lnSpc>
            </a:pPr>
            <a:r>
              <a:rPr sz="4400" b="1" i="0">
                <a:solidFill>
                  <a:srgbClr val="EAEEF6"/>
                </a:solidFill>
                <a:latin typeface="Segoe UI"/>
              </a:rPr>
              <a:t>Last-Mile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6720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9AA5BF"/>
                </a:solidFill>
                <a:latin typeface="Segoe UI"/>
              </a:rPr>
              <a:t>A hybrid machine-learning + optimization system that plans delivery routes the way real drivers actually drive — not just the shortest path on paper.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251960"/>
            <a:ext cx="5285232" cy="365760"/>
          </a:xfrm>
          <a:prstGeom prst="roundRect">
            <a:avLst>
              <a:gd name="adj" fmla="val 50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000" b="0" i="0">
                <a:solidFill>
                  <a:srgbClr val="9AA5BF"/>
                </a:solidFill>
                <a:latin typeface="Consolas"/>
              </a:rPr>
              <a:t>2021 Amazon Last-Mile Routing Research 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5488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000" b="0" i="0">
                <a:solidFill>
                  <a:srgbClr val="9AA5BF"/>
                </a:solidFill>
                <a:latin typeface="Consolas"/>
              </a:rPr>
              <a:t>Google OR-Tools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2" y="4754880"/>
            <a:ext cx="1161288" cy="365760"/>
          </a:xfrm>
          <a:prstGeom prst="roundRect">
            <a:avLst>
              <a:gd name="adj" fmla="val 50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000" b="0" i="0">
                <a:solidFill>
                  <a:srgbClr val="9AA5BF"/>
                </a:solidFill>
                <a:latin typeface="Consolas"/>
              </a:rPr>
              <a:t>XGBoost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42232" y="4754880"/>
            <a:ext cx="1362456" cy="365760"/>
          </a:xfrm>
          <a:prstGeom prst="roundRect">
            <a:avLst>
              <a:gd name="adj" fmla="val 50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000" b="0" i="0">
                <a:solidFill>
                  <a:srgbClr val="9AA5BF"/>
                </a:solidFill>
                <a:latin typeface="Consolas"/>
              </a:rP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89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EEF6"/>
                </a:solidFill>
                <a:latin typeface="Consolas"/>
              </a:rPr>
              <a:t>Suhani Chauhan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09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FD9CB"/>
                </a:solidFill>
                <a:latin typeface="Consolas"/>
              </a:rPr>
              <a:t>github.com/suhani-chauhan/Data-Driven-Last-Mile-Routing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803957" y="2064543"/>
            <a:ext cx="711518" cy="2015967"/>
          </a:xfrm>
          <a:prstGeom prst="line">
            <a:avLst/>
          </a:prstGeom>
          <a:ln w="17780">
            <a:solidFill>
              <a:srgbClr val="69759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515475" y="1945957"/>
            <a:ext cx="1304448" cy="118586"/>
          </a:xfrm>
          <a:prstGeom prst="line">
            <a:avLst/>
          </a:prstGeom>
          <a:ln w="17780">
            <a:solidFill>
              <a:srgbClr val="69759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819923" y="1945957"/>
            <a:ext cx="355759" cy="1423035"/>
          </a:xfrm>
          <a:prstGeom prst="line">
            <a:avLst/>
          </a:prstGeom>
          <a:ln w="17780">
            <a:solidFill>
              <a:srgbClr val="69759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226992" y="3368992"/>
            <a:ext cx="948690" cy="830104"/>
          </a:xfrm>
          <a:prstGeom prst="line">
            <a:avLst/>
          </a:prstGeom>
          <a:ln w="17780">
            <a:solidFill>
              <a:srgbClr val="69759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803957" y="3131820"/>
            <a:ext cx="415052" cy="948690"/>
          </a:xfrm>
          <a:prstGeom prst="line">
            <a:avLst/>
          </a:prstGeom>
          <a:ln w="34925">
            <a:solidFill>
              <a:srgbClr val="FF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219009" y="2064543"/>
            <a:ext cx="296466" cy="1067277"/>
          </a:xfrm>
          <a:prstGeom prst="line">
            <a:avLst/>
          </a:prstGeom>
          <a:ln w="34925">
            <a:solidFill>
              <a:srgbClr val="FF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15475" y="2064543"/>
            <a:ext cx="533638" cy="237173"/>
          </a:xfrm>
          <a:prstGeom prst="line">
            <a:avLst/>
          </a:prstGeom>
          <a:ln w="34925">
            <a:solidFill>
              <a:srgbClr val="FF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049113" y="1945957"/>
            <a:ext cx="770810" cy="355759"/>
          </a:xfrm>
          <a:prstGeom prst="line">
            <a:avLst/>
          </a:prstGeom>
          <a:ln w="34925">
            <a:solidFill>
              <a:srgbClr val="FF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19923" y="1945957"/>
            <a:ext cx="296466" cy="592931"/>
          </a:xfrm>
          <a:prstGeom prst="line">
            <a:avLst/>
          </a:prstGeom>
          <a:ln w="34925">
            <a:solidFill>
              <a:srgbClr val="FF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116389" y="2538888"/>
            <a:ext cx="59293" cy="830104"/>
          </a:xfrm>
          <a:prstGeom prst="line">
            <a:avLst/>
          </a:prstGeom>
          <a:ln w="34925">
            <a:solidFill>
              <a:srgbClr val="FF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760630" y="3368992"/>
            <a:ext cx="415052" cy="474345"/>
          </a:xfrm>
          <a:prstGeom prst="line">
            <a:avLst/>
          </a:prstGeom>
          <a:ln w="34925">
            <a:solidFill>
              <a:srgbClr val="FF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226992" y="3843337"/>
            <a:ext cx="533638" cy="355759"/>
          </a:xfrm>
          <a:prstGeom prst="line">
            <a:avLst/>
          </a:prstGeom>
          <a:ln w="34925">
            <a:solidFill>
              <a:srgbClr val="FF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469755" y="2018823"/>
            <a:ext cx="91440" cy="91440"/>
          </a:xfrm>
          <a:prstGeom prst="ellipse">
            <a:avLst/>
          </a:prstGeom>
          <a:solidFill>
            <a:srgbClr val="69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74203" y="1900237"/>
            <a:ext cx="91440" cy="91440"/>
          </a:xfrm>
          <a:prstGeom prst="ellipse">
            <a:avLst/>
          </a:prstGeom>
          <a:solidFill>
            <a:srgbClr val="69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29962" y="3323272"/>
            <a:ext cx="91440" cy="91440"/>
          </a:xfrm>
          <a:prstGeom prst="ellipse">
            <a:avLst/>
          </a:prstGeom>
          <a:solidFill>
            <a:srgbClr val="69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39949" y="4016502"/>
            <a:ext cx="128016" cy="128016"/>
          </a:xfrm>
          <a:prstGeom prst="ellipse">
            <a:avLst/>
          </a:prstGeom>
          <a:solidFill>
            <a:srgbClr val="FF8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62984" y="4135088"/>
            <a:ext cx="128016" cy="128016"/>
          </a:xfrm>
          <a:prstGeom prst="ellipse">
            <a:avLst/>
          </a:prstGeom>
          <a:solidFill>
            <a:srgbClr val="4F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9637" y="419023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5BF"/>
                </a:solidFill>
                <a:latin typeface="Consolas"/>
              </a:rPr>
              <a:t>depot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4112" y="38699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5BF"/>
                </a:solidFill>
                <a:latin typeface="Consolas"/>
              </a:rPr>
              <a:t>last stop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12161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shortest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606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8A45"/>
                </a:solidFill>
                <a:latin typeface="Consolas"/>
              </a:rPr>
              <a:t>actual driver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01/15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02 / 15  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AEEF6"/>
                </a:solidFill>
                <a:latin typeface="Segoe UI"/>
              </a:rPr>
              <a:t>The shortest path isn't the real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6126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9AA5BF"/>
                </a:solidFill>
                <a:latin typeface="Segoe UI"/>
              </a:rPr>
              <a:t>Delivery drivers routinely deviate from the mathematically shortest route. Real streets, parking limits, one-way turns, and shortcut alleyways matter more than straight-line distance — and classic routing math has no way to know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6309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Classic solvers optimize geometry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— a Traveling Salesperson Problem over travel-time, nothing else.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Real drivers optimize experience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— where you actually can't park, which lot exit saves two minutes, which stop order avoids backtracking.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The gap between the two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is wasted driver time, missed delivery windows, and route plans nobody on the ground trusts.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28800"/>
            <a:ext cx="4297680" cy="292608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050" b="1" i="0">
                <a:solidFill>
                  <a:srgbClr val="697598"/>
                </a:solidFill>
                <a:latin typeface="Consolas"/>
              </a:rPr>
              <a:t>THIS PROJECT'S PREMISE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550" b="0" i="0">
                <a:solidFill>
                  <a:srgbClr val="EAEEF6"/>
                </a:solidFill>
                <a:latin typeface="Segoe UI"/>
              </a:rPr>
              <a:t>Learn from thousands of real Amazon drivers' historical routes, and bend the optimizer's math toward how people actually deliver — instead of how a ruler would.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02/15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03 / 15   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EEF6"/>
                </a:solidFill>
                <a:latin typeface="Segoe UI"/>
              </a:rPr>
              <a:t>Routing math that ignores human behavior is routing math nobody follows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4206240" cy="329184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050" b="1" i="0">
                <a:solidFill>
                  <a:srgbClr val="697598"/>
                </a:solidFill>
                <a:latin typeface="Consolas"/>
              </a:rPr>
              <a:t>RESEARCH PEDIGREE</a:t>
            </a:r>
          </a:p>
          <a:p>
            <a:pPr>
              <a:lnSpc>
                <a:spcPct val="140000"/>
              </a:lnSpc>
              <a:spcBef>
                <a:spcPts val="1200"/>
              </a:spcBef>
            </a:pPr>
            <a:r>
              <a:rPr sz="1350" b="0" i="0">
                <a:solidFill>
                  <a:srgbClr val="9AA5BF"/>
                </a:solidFill>
                <a:latin typeface="Segoe UI"/>
              </a:rPr>
              <a:t>This problem class is not hypothetical — it's the same one Amazon and the MIT Center for Transportation &amp; Logistics posed to the logistics-research community in the 2021 Last-Mile Routing Research Challenge, scored against real drivers' actual stop sequences.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96596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Tacit knowledge doesn't show up in a distance matrix.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Parking availability, walkability, personal habit — drivers carry context no travel-time table encodes.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“Optimal on paper” often means “ignored in practice.”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A route plan drivers don't trust gets silently reordered anyway — the optimization was wasted.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Every mile of mismatch is a real cost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— fuel, driver time, missed time-windows, at the scale of a national delivery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04 / 15  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AEEF6"/>
                </a:solidFill>
                <a:latin typeface="Segoe UI"/>
              </a:rPr>
              <a:t>2021 Amazon Last-Mile Routing Research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AA5BF"/>
                </a:solidFill>
                <a:latin typeface="Segoe UI"/>
              </a:rPr>
              <a:t>Hosted on the AWS Open Data Registry, co-organized with the MIT Center for Transportation &amp; Logistics. Real historical routes with the ground-truth stop order each driver actually followed.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2606040" cy="1143000"/>
          </a:xfrm>
          <a:prstGeom prst="rect">
            <a:avLst/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ctr"/>
            <a:r>
              <a:rPr sz="2700" b="1" i="0">
                <a:solidFill>
                  <a:srgbClr val="EAEEF6"/>
                </a:solidFill>
                <a:latin typeface="Consolas"/>
              </a:rPr>
              <a:t>9,164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9AA5BF"/>
                </a:solidFill>
                <a:latin typeface="Segoe UI"/>
              </a:rPr>
              <a:t>total historical routes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2331720"/>
            <a:ext cx="2606040" cy="1143000"/>
          </a:xfrm>
          <a:prstGeom prst="rect">
            <a:avLst/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ctr"/>
            <a:r>
              <a:rPr sz="2700" b="1" i="0">
                <a:solidFill>
                  <a:srgbClr val="EAEEF6"/>
                </a:solidFill>
                <a:latin typeface="Consolas"/>
              </a:rPr>
              <a:t>6,112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9AA5BF"/>
                </a:solidFill>
                <a:latin typeface="Segoe UI"/>
              </a:rPr>
              <a:t>training routes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25896" y="2331720"/>
            <a:ext cx="2606040" cy="1143000"/>
          </a:xfrm>
          <a:prstGeom prst="rect">
            <a:avLst/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ctr"/>
            <a:r>
              <a:rPr sz="2700" b="1" i="0">
                <a:solidFill>
                  <a:srgbClr val="EAEEF6"/>
                </a:solidFill>
                <a:latin typeface="Consolas"/>
              </a:rPr>
              <a:t>3,052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9AA5BF"/>
                </a:solidFill>
                <a:latin typeface="Segoe UI"/>
              </a:rPr>
              <a:t>evaluation routes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331720"/>
            <a:ext cx="2606040" cy="1143000"/>
          </a:xfrm>
          <a:prstGeom prst="rect">
            <a:avLst/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ctr"/>
            <a:r>
              <a:rPr sz="2700" b="1" i="0">
                <a:solidFill>
                  <a:srgbClr val="EAEEF6"/>
                </a:solidFill>
                <a:latin typeface="Consolas"/>
              </a:rPr>
              <a:t>5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9AA5BF"/>
                </a:solidFill>
                <a:latin typeface="Segoe UI"/>
              </a:rPr>
              <a:t>U.S. metro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8620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EAEEF6"/>
                </a:solidFill>
                <a:latin typeface="Segoe UI"/>
              </a:rPr>
              <a:t>route_data.json </a:t>
            </a:r>
            <a:r>
              <a:rPr sz="1350" b="0" i="0">
                <a:solidFill>
                  <a:srgbClr val="9AA5BF"/>
                </a:solidFill>
                <a:latin typeface="Segoe UI"/>
              </a:rPr>
              <a:t>— date, departure time, vehicle dimensions, depot station.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EAEEF6"/>
                </a:solidFill>
                <a:latin typeface="Segoe UI"/>
              </a:rPr>
              <a:t>package_data.json </a:t>
            </a:r>
            <a:r>
              <a:rPr sz="1350" b="0" i="0">
                <a:solidFill>
                  <a:srgbClr val="9AA5BF"/>
                </a:solidFill>
                <a:latin typeface="Segoe UI"/>
              </a:rPr>
              <a:t>— dimensions, weight, delivery time windows, lat/lng per stop.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EAEEF6"/>
                </a:solidFill>
                <a:latin typeface="Segoe UI"/>
              </a:rPr>
              <a:t>travel_times.json </a:t>
            </a:r>
            <a:r>
              <a:rPr sz="1350" b="0" i="0">
                <a:solidFill>
                  <a:srgbClr val="9AA5BF"/>
                </a:solidFill>
                <a:latin typeface="Segoe UI"/>
              </a:rPr>
              <a:t>— precomputed, asymmetric point-to-point transit matrix per route.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350" b="1" i="0">
                <a:solidFill>
                  <a:srgbClr val="EAEEF6"/>
                </a:solidFill>
                <a:latin typeface="Segoe UI"/>
              </a:rPr>
              <a:t>actual_sequences.json </a:t>
            </a:r>
            <a:r>
              <a:rPr sz="1350" b="0" i="0">
                <a:solidFill>
                  <a:srgbClr val="9AA5BF"/>
                </a:solidFill>
                <a:latin typeface="Segoe UI"/>
              </a:rPr>
              <a:t>— the ground-truth order the human driver actually drove.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97598"/>
                </a:solidFill>
                <a:latin typeface="Consolas"/>
              </a:rPr>
              <a:t>FETCH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4206240"/>
            <a:ext cx="4480560" cy="1005840"/>
          </a:xfrm>
          <a:prstGeom prst="rect">
            <a:avLst/>
          </a:prstGeom>
          <a:solidFill>
            <a:srgbClr val="1B2438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EAEEF6"/>
                </a:solidFill>
                <a:latin typeface="Consolas"/>
              </a:rPr>
              <a:t>aws s3 sync --no-sign-request \
  s3://amazon-last-mile-challenges/almrrc2021/ ./data/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05 / 15 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EEF6"/>
                </a:solidFill>
                <a:latin typeface="Segoe UI"/>
              </a:rPr>
              <a:t>What happens when a route gets solved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5BF"/>
                </a:solidFill>
                <a:latin typeface="Segoe UI"/>
              </a:rPr>
              <a:t>Two things are learned once, offline. Everything after that runs fresh, every time a route is solved.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97598"/>
                </a:solidFill>
                <a:latin typeface="Consolas"/>
              </a:rPr>
              <a:t>PREPARED ONCE — OFFLINE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8600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28016" rIns="182880"/>
          <a:lstStyle/>
          <a:p>
            <a:pPr algn="ctr"/>
            <a:r>
              <a:rPr sz="950" b="1" i="0">
                <a:solidFill>
                  <a:srgbClr val="FF8A45"/>
                </a:solidFill>
                <a:latin typeface="Consolas"/>
              </a:rPr>
              <a:t>PREP A</a:t>
            </a:r>
          </a:p>
          <a:p>
            <a:pPr>
              <a:spcBef>
                <a:spcPts val="400"/>
              </a:spcBef>
            </a:pPr>
            <a:r>
              <a:rPr sz="1450" b="1" i="0">
                <a:solidFill>
                  <a:srgbClr val="EAEEF6"/>
                </a:solidFill>
                <a:latin typeface="Segoe UI"/>
              </a:rPr>
              <a:t>Clean &amp; join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100" b="0" i="0">
                <a:solidFill>
                  <a:srgbClr val="9AA5BF"/>
                </a:solidFill>
                <a:latin typeface="Segoe UI"/>
              </a:rPr>
              <a:t>Raw nested JSON → tidy Parquet tables: one route, one stop, one package per row.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4FD9CB"/>
                </a:solidFill>
                <a:latin typeface="Consolas"/>
              </a:rPr>
              <a:t>data_pipeline.py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28600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28016" rIns="182880"/>
          <a:lstStyle/>
          <a:p>
            <a:pPr algn="ctr"/>
            <a:r>
              <a:rPr sz="950" b="1" i="0">
                <a:solidFill>
                  <a:srgbClr val="FF8A45"/>
                </a:solidFill>
                <a:latin typeface="Consolas"/>
              </a:rPr>
              <a:t>PREP B</a:t>
            </a:r>
          </a:p>
          <a:p>
            <a:pPr>
              <a:spcBef>
                <a:spcPts val="400"/>
              </a:spcBef>
            </a:pPr>
            <a:r>
              <a:rPr sz="1450" b="1" i="0">
                <a:solidFill>
                  <a:srgbClr val="EAEEF6"/>
                </a:solidFill>
                <a:latin typeface="Segoe UI"/>
              </a:rPr>
              <a:t>Learn zone habits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100" b="0" i="0">
                <a:solidFill>
                  <a:srgbClr val="9AA5BF"/>
                </a:solidFill>
                <a:latin typeface="Segoe UI"/>
              </a:rPr>
              <a:t>Every training route's real stop sequence → an empirical zone-to-zone transition table.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4FD9CB"/>
                </a:solidFill>
                <a:latin typeface="Consolas"/>
              </a:rPr>
              <a:t>zone_penalty.py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97598"/>
                </a:solidFill>
                <a:latin typeface="Consolas"/>
              </a:rPr>
              <a:t>EVERY TIME A ROUTE IS SOLVED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279392"/>
            <a:ext cx="384048" cy="384048"/>
          </a:xfrm>
          <a:prstGeom prst="ellipse">
            <a:avLst/>
          </a:prstGeom>
          <a:solidFill>
            <a:srgbClr val="141B2C"/>
          </a:solidFill>
          <a:ln w="22225">
            <a:solidFill>
              <a:srgbClr val="FF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8A45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51960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 b="1" i="0">
                <a:solidFill>
                  <a:srgbClr val="EAEEF6"/>
                </a:solidFill>
                <a:latin typeface="Segoe UI"/>
              </a:rPr>
              <a:t>Request comes in  </a:t>
            </a:r>
            <a:r>
              <a:rPr sz="1200" b="0" i="0">
                <a:solidFill>
                  <a:srgbClr val="9AA5BF"/>
                </a:solidFill>
                <a:latin typeface="Segoe UI"/>
              </a:rPr>
              <a:t>A route ID and an α weight arrive — from the Streamlit “Solve” button, or --route-id on the CLI.</a:t>
            </a:r>
            <a:r>
              <a:rPr sz="1000" b="0" i="0">
                <a:solidFill>
                  <a:srgbClr val="4FD9CB"/>
                </a:solidFill>
                <a:latin typeface="Consolas"/>
              </a:rPr>
              <a:t>   [pages/home.py · model_apply.py]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928616"/>
            <a:ext cx="384048" cy="384048"/>
          </a:xfrm>
          <a:prstGeom prst="ellipse">
            <a:avLst/>
          </a:prstGeom>
          <a:solidFill>
            <a:srgbClr val="141B2C"/>
          </a:solidFill>
          <a:ln w="22225">
            <a:solidFill>
              <a:srgbClr val="FF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8A45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90118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 b="1" i="0">
                <a:solidFill>
                  <a:srgbClr val="EAEEF6"/>
                </a:solidFill>
                <a:latin typeface="Segoe UI"/>
              </a:rPr>
              <a:t>Load that one route  </a:t>
            </a:r>
            <a:r>
              <a:rPr sz="1200" b="0" i="0">
                <a:solidFill>
                  <a:srgbClr val="9AA5BF"/>
                </a:solidFill>
                <a:latin typeface="Segoe UI"/>
              </a:rPr>
              <a:t>load_route() pulls just this route's rows from the pre-built Parquet tables: depot, stops, real T_ij matrix, service times, time windows.</a:t>
            </a:r>
            <a:r>
              <a:rPr sz="1000" b="0" i="0">
                <a:solidFill>
                  <a:srgbClr val="4FD9CB"/>
                </a:solidFill>
                <a:latin typeface="Consolas"/>
              </a:rPr>
              <a:t>   [routes/stops/travel_times.parquet]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5577840"/>
            <a:ext cx="384048" cy="384048"/>
          </a:xfrm>
          <a:prstGeom prst="ellipse">
            <a:avLst/>
          </a:prstGeom>
          <a:solidFill>
            <a:srgbClr val="141B2C"/>
          </a:solidFill>
          <a:ln w="22225">
            <a:solidFill>
              <a:srgbClr val="FF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8A45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5040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 b="1" i="0">
                <a:solidFill>
                  <a:srgbClr val="EAEEF6"/>
                </a:solidFill>
                <a:latin typeface="Segoe UI"/>
              </a:rPr>
              <a:t>Look up zone habits  </a:t>
            </a:r>
            <a:r>
              <a:rPr sz="1200" b="0" i="0">
                <a:solidFill>
                  <a:srgbClr val="9AA5BF"/>
                </a:solidFill>
                <a:latin typeface="Segoe UI"/>
              </a:rPr>
              <a:t>Each stop's zone is resolved and matched against the offline table to get P_ij — how rarely drivers make that exact hop.</a:t>
            </a:r>
            <a:r>
              <a:rPr sz="1000" b="0" i="0">
                <a:solidFill>
                  <a:srgbClr val="4FD9CB"/>
                </a:solidFill>
                <a:latin typeface="Consolas"/>
              </a:rPr>
              <a:t>   [zone_of() · build_pij_table()]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6227064"/>
            <a:ext cx="384048" cy="384048"/>
          </a:xfrm>
          <a:prstGeom prst="ellipse">
            <a:avLst/>
          </a:prstGeom>
          <a:solidFill>
            <a:srgbClr val="141B2C"/>
          </a:solidFill>
          <a:ln w="22225">
            <a:solidFill>
              <a:srgbClr val="FF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8A45"/>
                </a:solidFill>
                <a:latin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19963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 b="1" i="0">
                <a:solidFill>
                  <a:srgbClr val="EAEEF6"/>
                </a:solidFill>
                <a:latin typeface="Segoe UI"/>
              </a:rPr>
              <a:t>Build the hybrid cost matrix  </a:t>
            </a:r>
            <a:r>
              <a:rPr sz="1200" b="0" i="0">
                <a:solidFill>
                  <a:srgbClr val="9AA5BF"/>
                </a:solidFill>
                <a:latin typeface="Segoe UI"/>
              </a:rPr>
              <a:t>For every stop pair: C_ij = T_ij + α · scale · P_ij, where scale is this route's own mean T_ij.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06 / 15 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EEF6"/>
                </a:solidFill>
                <a:latin typeface="Segoe UI"/>
              </a:rPr>
              <a:t>What happens when a route gets solved (2/2)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141B2C"/>
          </a:solidFill>
          <a:ln w="22225">
            <a:solidFill>
              <a:srgbClr val="FF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8A45"/>
                </a:solidFill>
                <a:latin typeface="Consola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783080"/>
            <a:ext cx="10149840" cy="987552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18872" rIns="182880"/>
          <a:lstStyle/>
          <a:p>
            <a:pPr algn="ctr"/>
            <a:r>
              <a:rPr sz="1500" b="1" i="0">
                <a:solidFill>
                  <a:srgbClr val="EAEEF6"/>
                </a:solidFill>
                <a:latin typeface="Segoe UI"/>
              </a:rPr>
              <a:t>Construct the OR-Tools model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200" b="0" i="0">
                <a:solidFill>
                  <a:srgbClr val="9AA5BF"/>
                </a:solidFill>
                <a:latin typeface="Segoe UI"/>
              </a:rPr>
              <a:t>A RoutingIndexManager + RoutingModel; C_ij becomes the arc-cost objective. A Time dimension separately enforces service time and hard time-windows, untouched by α.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3081528"/>
            <a:ext cx="457200" cy="457200"/>
          </a:xfrm>
          <a:prstGeom prst="ellipse">
            <a:avLst/>
          </a:prstGeom>
          <a:solidFill>
            <a:srgbClr val="141B2C"/>
          </a:solidFill>
          <a:ln w="22225">
            <a:solidFill>
              <a:srgbClr val="FF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8A45"/>
                </a:solidFill>
                <a:latin typeface="Consola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3081528"/>
            <a:ext cx="10149840" cy="987552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18872" rIns="182880"/>
          <a:lstStyle/>
          <a:p>
            <a:pPr algn="ctr"/>
            <a:r>
              <a:rPr sz="1500" b="1" i="0">
                <a:solidFill>
                  <a:srgbClr val="EAEEF6"/>
                </a:solidFill>
                <a:latin typeface="Segoe UI"/>
              </a:rPr>
              <a:t>Solve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200" b="0" i="0">
                <a:solidFill>
                  <a:srgbClr val="9AA5BF"/>
                </a:solidFill>
                <a:latin typeface="Segoe UI"/>
              </a:rPr>
              <a:t>PARALLEL_CHEAPEST_INSERTION finds a first feasible route; GUIDED_LOCAL_SEARCH then improves it for up to the time budget — 60s for the headline results.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4379976"/>
            <a:ext cx="457200" cy="457200"/>
          </a:xfrm>
          <a:prstGeom prst="ellipse">
            <a:avLst/>
          </a:prstGeom>
          <a:solidFill>
            <a:srgbClr val="141B2C"/>
          </a:solidFill>
          <a:ln w="22225">
            <a:solidFill>
              <a:srgbClr val="FF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8A45"/>
                </a:solidFill>
                <a:latin typeface="Consolas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4379976"/>
            <a:ext cx="10149840" cy="987552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18872" rIns="182880"/>
          <a:lstStyle/>
          <a:p>
            <a:pPr algn="ctr"/>
            <a:r>
              <a:rPr sz="1500" b="1" i="0">
                <a:solidFill>
                  <a:srgbClr val="EAEEF6"/>
                </a:solidFill>
                <a:latin typeface="Segoe UI"/>
              </a:rPr>
              <a:t>Return the stop order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200" b="0" i="0">
                <a:solidFill>
                  <a:srgbClr val="9AA5BF"/>
                </a:solidFill>
                <a:latin typeface="Segoe UI"/>
              </a:rPr>
              <a:t>The solved sequence streams back — drawn live on the Streamlit map, or written out to the CLI caller.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5678424"/>
            <a:ext cx="457200" cy="457200"/>
          </a:xfrm>
          <a:prstGeom prst="ellipse">
            <a:avLst/>
          </a:prstGeom>
          <a:solidFill>
            <a:srgbClr val="141B2C"/>
          </a:solidFill>
          <a:ln w="22225">
            <a:solidFill>
              <a:srgbClr val="69759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697598"/>
                </a:solidFill>
                <a:latin typeface="Consolas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5678424"/>
            <a:ext cx="10149840" cy="987552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18872" rIns="182880"/>
          <a:lstStyle/>
          <a:p>
            <a:pPr algn="ctr"/>
            <a:r>
              <a:rPr sz="1500" b="1" i="0">
                <a:solidFill>
                  <a:srgbClr val="EAEEF6"/>
                </a:solidFill>
                <a:latin typeface="Segoe UI"/>
              </a:rPr>
              <a:t>Score  (evaluation only)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200" b="0" i="0">
                <a:solidFill>
                  <a:srgbClr val="9AA5BF"/>
                </a:solidFill>
                <a:latin typeface="Segoe UI"/>
              </a:rPr>
              <a:t>Not part of a live request — for benchmarking, the returned sequence is compared against the driver's real actual_sequences.json order via the ERP-based metric.</a:t>
            </a:r>
            <a:r>
              <a:rPr sz="1000" b="0" i="0">
                <a:solidFill>
                  <a:srgbClr val="4FD9CB"/>
                </a:solidFill>
                <a:latin typeface="Consolas"/>
              </a:rPr>
              <a:t>   [model_score.py]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97598"/>
                </a:solidFill>
                <a:latin typeface="Consolas"/>
              </a:rPr>
              <a:t>pandas · pyarrow · Dask · ijson     •     Google OR-Tools (ATSP)     •     Streamlit · folium · geopy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07 / 15   THE CORE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AEEF6"/>
                </a:solidFill>
                <a:latin typeface="Segoe UI"/>
              </a:rPr>
              <a:t>The hybrid cost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28600"/>
          <a:lstStyle/>
          <a:p>
            <a:pPr algn="ctr">
              <a:spcAft>
                <a:spcPts val="1800"/>
              </a:spcAft>
            </a:pPr>
            <a:r>
              <a:rPr sz="2200" b="1" i="0">
                <a:solidFill>
                  <a:srgbClr val="EAEEF6"/>
                </a:solidFill>
                <a:latin typeface="Consolas"/>
              </a:rPr>
              <a:t>C_ij = T_ij + α · scale · P_ij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 i="0">
                <a:solidFill>
                  <a:srgbClr val="4FD9CB"/>
                </a:solidFill>
                <a:latin typeface="Consolas"/>
              </a:rPr>
              <a:t>T_ij   —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Real pairwise travel time between stop i and stop j, from the route's own precomputed matrix.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 i="0">
                <a:solidFill>
                  <a:srgbClr val="4FD9CB"/>
                </a:solidFill>
                <a:latin typeface="Consolas"/>
              </a:rPr>
              <a:t>P_ij   —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1 − P(zone(j) | zone(i)) — the empirical penalty: how rarely real drivers make this exact zone-to-zone hop.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 i="0">
                <a:solidFill>
                  <a:srgbClr val="4FD9CB"/>
                </a:solidFill>
                <a:latin typeface="Consolas"/>
              </a:rPr>
              <a:t>α      —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Tunable weight balancing raw travel time against learned driver habit. Default 1.0.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 i="0">
                <a:solidFill>
                  <a:srgbClr val="4FD9CB"/>
                </a:solidFill>
                <a:latin typeface="Consolas"/>
              </a:rPr>
              <a:t>scale  —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Each route's own mean T_ij, so the penalty stays comparable across routes of any size.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150" b="0" i="1">
                <a:solidFill>
                  <a:srgbClr val="697598"/>
                </a:solidFill>
                <a:latin typeface="Segoe UI"/>
              </a:rPr>
              <a:t>Only the solver's arc-cost objective changes. Hard constraints — service time, time windows — stay on the real T_ij, untouched.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7830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9AA5BF"/>
                </a:solidFill>
                <a:latin typeface="Segoe UI"/>
              </a:rPr>
              <a:t>In plain terms: two zones that drivers hop between constantly get treated as “cheap,” even if a slightly shorter hop exists elsewhere that almost nobody actually takes.</a:t>
            </a:r>
          </a:p>
        </p:txBody>
      </p:sp>
      <p:sp>
        <p:nvSpPr>
          <p:cNvPr id="7" name="Oval 6"/>
          <p:cNvSpPr/>
          <p:nvPr/>
        </p:nvSpPr>
        <p:spPr>
          <a:xfrm>
            <a:off x="6446520" y="4297680"/>
            <a:ext cx="1051560" cy="1051560"/>
          </a:xfrm>
          <a:prstGeom prst="ellipse">
            <a:avLst/>
          </a:prstGeom>
          <a:solidFill>
            <a:srgbClr val="141B2C"/>
          </a:solidFill>
          <a:ln w="22225">
            <a:solidFill>
              <a:srgbClr val="4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AEEF6"/>
                </a:solidFill>
                <a:latin typeface="Consolas"/>
              </a:rPr>
              <a:t>Zone A</a:t>
            </a:r>
          </a:p>
        </p:txBody>
      </p:sp>
      <p:sp>
        <p:nvSpPr>
          <p:cNvPr id="8" name="Oval 7"/>
          <p:cNvSpPr/>
          <p:nvPr/>
        </p:nvSpPr>
        <p:spPr>
          <a:xfrm>
            <a:off x="10058400" y="3246120"/>
            <a:ext cx="1051560" cy="1051560"/>
          </a:xfrm>
          <a:prstGeom prst="ellipse">
            <a:avLst/>
          </a:prstGeom>
          <a:solidFill>
            <a:srgbClr val="141B2C"/>
          </a:solidFill>
          <a:ln w="22225">
            <a:solidFill>
              <a:srgbClr val="4F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AEEF6"/>
                </a:solidFill>
                <a:latin typeface="Consolas"/>
              </a:rPr>
              <a:t>Zone B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5120640"/>
            <a:ext cx="1051560" cy="1051560"/>
          </a:xfrm>
          <a:prstGeom prst="ellipse">
            <a:avLst/>
          </a:prstGeom>
          <a:solidFill>
            <a:srgbClr val="141B2C"/>
          </a:solidFill>
          <a:ln w="22225">
            <a:solidFill>
              <a:srgbClr val="697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AEEF6"/>
                </a:solidFill>
                <a:latin typeface="Consolas"/>
              </a:rPr>
              <a:t>Zone C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452360" y="3794760"/>
            <a:ext cx="2651760" cy="685800"/>
          </a:xfrm>
          <a:prstGeom prst="bentConnector3">
            <a:avLst/>
          </a:prstGeom>
          <a:ln w="44450">
            <a:solidFill>
              <a:srgbClr val="4FD9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52360" y="4892040"/>
            <a:ext cx="2651760" cy="685800"/>
          </a:xfrm>
          <a:prstGeom prst="bentConnector3">
            <a:avLst/>
          </a:prstGeom>
          <a:ln w="15875">
            <a:solidFill>
              <a:srgbClr val="69759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5236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D9CB"/>
                </a:solidFill>
                <a:latin typeface="Consolas"/>
              </a:rPr>
              <a:t>common · low P_ij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97598"/>
                </a:solidFill>
                <a:latin typeface="Consolas"/>
              </a:rPr>
              <a:t>rare · high P_ij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08 / 15  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AEEF6"/>
                </a:solidFill>
                <a:latin typeface="Segoe UI"/>
              </a:rPr>
              <a:t>Built on production logistics tooling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56032" rIns="201168"/>
          <a:lstStyle/>
          <a:p>
            <a:pPr algn="ctr"/>
            <a:r>
              <a:rPr sz="1100" b="1" i="0">
                <a:solidFill>
                  <a:srgbClr val="FF8A45"/>
                </a:solidFill>
                <a:latin typeface="Consolas"/>
              </a:rPr>
              <a:t>DATA PIPELINE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pandas &amp; PyArrow — tabular cleaning, Parquet I/O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Dask — out-of-core batching, 8GB-RAM safe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ijson — streaming the largest JSON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56032" rIns="201168"/>
          <a:lstStyle/>
          <a:p>
            <a:pPr algn="ctr"/>
            <a:r>
              <a:rPr sz="1100" b="1" i="0">
                <a:solidFill>
                  <a:srgbClr val="FF8A45"/>
                </a:solidFill>
                <a:latin typeface="Consolas"/>
              </a:rPr>
              <a:t>OPTIMIZATION &amp; ML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Google OR-Tools — ATSP solve, Guided Local Search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scikit-learn — empirical zone-penalty modeling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XGBoost — per-stop difficulty model (documented, unused — see slide 11)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82880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56032" rIns="201168"/>
          <a:lstStyle/>
          <a:p>
            <a:pPr algn="ctr"/>
            <a:r>
              <a:rPr sz="1100" b="1" i="0">
                <a:solidFill>
                  <a:srgbClr val="FF8A45"/>
                </a:solidFill>
                <a:latin typeface="Consolas"/>
              </a:rPr>
              <a:t>DASHBOARD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Streamlit — multi-page interactive app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streamlit-folium + folium — live map rendering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geopy — address ↔ coordinate geocoding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09 / 15   TRY IT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AEEF6"/>
                </a:solidFill>
                <a:latin typeface="Segoe UI"/>
              </a:rPr>
              <a:t>An interactive dashboard, not just a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arison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37944"/>
            <a:ext cx="3410712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" y="3657599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AEEF6"/>
                </a:solidFill>
                <a:latin typeface="Segoe UI"/>
              </a:rPr>
              <a:t>Baseline vs. hybrid comparison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 b="0" i="0">
                <a:solidFill>
                  <a:srgbClr val="9AA5BF"/>
                </a:solidFill>
                <a:latin typeface="Segoe UI"/>
              </a:rPr>
              <a:t>Overlays the straight-line baseline, the zone-penalty hybrid route, and the driver's actual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8308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livery-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837944"/>
            <a:ext cx="3410712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2272" y="3657599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AEEF6"/>
                </a:solidFill>
                <a:latin typeface="Segoe UI"/>
              </a:rPr>
              <a:t>Delivery progress tracking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 b="0" i="0">
                <a:solidFill>
                  <a:srgbClr val="9AA5BF"/>
                </a:solidFill>
                <a:latin typeface="Segoe UI"/>
              </a:rPr>
              <a:t>“Mark as Delivered” walks the stop order one at a time; delivered stops drop off the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78308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ustom-route-bui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837944"/>
            <a:ext cx="3410712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65592" y="3657599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AEEF6"/>
                </a:solidFill>
                <a:latin typeface="Segoe UI"/>
              </a:rPr>
              <a:t>Build-your-own-route mode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 b="0" i="0">
                <a:solidFill>
                  <a:srgbClr val="9AA5BF"/>
                </a:solidFill>
                <a:latin typeface="Segoe UI"/>
              </a:rPr>
              <a:t>Enter a depot and stops by address or lat/lng and get an optimized order for a route outside the dataset.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10 / 15   EXTENDING THE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EEF6"/>
                </a:solidFill>
                <a:latin typeface="Segoe UI"/>
              </a:rPr>
              <a:t>One driver becomes a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AA5BF"/>
                </a:solidFill>
                <a:latin typeface="Segoe UI"/>
              </a:rPr>
              <a:t>A second solver mode: split the same route across multiple vehicles — a Capacitated Vehicle Routing Problem with Time Windows (CVRPTW) — using the exact same learned cost function as the single-driver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5943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EAEEF6"/>
                </a:solidFill>
                <a:latin typeface="Segoe UI"/>
              </a:rPr>
              <a:t>Same cost function, more vehicles.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The hybrid arc-cost and time-window logic were factored out of the single-vehicle solver into shared functions — nothing about C_ij is duplicated between modes.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EAEEF6"/>
                </a:solidFill>
                <a:latin typeface="Segoe UI"/>
              </a:rPr>
              <a:t>Capacity = package volume.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The dataset has no weight field, so each stop's demand is its total package volume (cm³) — the one physical quantity a real van's cargo space is limited by.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EAEEF6"/>
                </a:solidFill>
                <a:latin typeface="Segoe UI"/>
              </a:rPr>
              <a:t>Route-aware default capacity.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An even split of the route's total volume plus 40% slack — not a fixed constant, since routes vary well over 10× in total package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5943600" cy="141732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46304" rIns="182880"/>
          <a:lstStyle/>
          <a:p>
            <a:pPr algn="ctr"/>
            <a:r>
              <a:rPr sz="1000" b="1" i="0">
                <a:solidFill>
                  <a:srgbClr val="FF8A45"/>
                </a:solidFill>
                <a:latin typeface="Consolas"/>
              </a:rPr>
              <a:t>HONEST SCOPE NOTE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9AA5BF"/>
                </a:solidFill>
                <a:latin typeface="Segoe UI"/>
              </a:rPr>
              <a:t>No official Amazon score applies to a multi-vehicle split — the dataset's ground truth is one driver's single sequence per route. This mode reports total travel time and capacity/time-window feasibility per vehicle instead.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783080"/>
            <a:ext cx="4754880" cy="4343400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eet-pl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1856232"/>
            <a:ext cx="4608576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80" y="51206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AEEF6"/>
                </a:solidFill>
                <a:latin typeface="Segoe UI"/>
              </a:rPr>
              <a:t>Fleet Planner — 33-stop route, 3 vehicles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 b="0" i="0">
                <a:solidFill>
                  <a:srgbClr val="9AA5BF"/>
                </a:solidFill>
                <a:latin typeface="Segoe UI"/>
              </a:rPr>
              <a:t>13 / 17 / 2 stops per vehicle, solved in 30.2s, every vehicle within capacity, zero time-window violations.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11 / 15  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AEEF6"/>
                </a:solidFill>
                <a:latin typeface="Segoe UI"/>
              </a:rPr>
              <a:t>31.7% closer to how real drivers actually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4FD9CB"/>
                </a:solidFill>
                <a:latin typeface="Consolas"/>
              </a:rPr>
              <a:t>31.7%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627632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5BF"/>
                </a:solidFill>
                <a:latin typeface="Segoe UI"/>
              </a:rPr>
              <a:t>average improvement in official sequence-deviation score, hybrid vs. baseline, on 15 randomly sampled routes (paired, same-route comparison).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AEEF6"/>
                </a:solidFill>
                <a:latin typeface="Consolas"/>
              </a:rPr>
              <a:t>0.0728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AA5BF"/>
                </a:solidFill>
                <a:latin typeface="Segoe UI"/>
              </a:rPr>
              <a:t>baseline avg. score (lower is better)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AEEF6"/>
                </a:solidFill>
                <a:latin typeface="Consolas"/>
              </a:rPr>
              <a:t>0.0498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971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AA5BF"/>
                </a:solidFill>
                <a:latin typeface="Segoe UI"/>
              </a:rPr>
              <a:t>hybrid avg.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AEEF6"/>
                </a:solidFill>
                <a:latin typeface="Consolas"/>
              </a:rPr>
              <a:t>15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971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AA5BF"/>
                </a:solidFill>
                <a:latin typeface="Segoe UI"/>
              </a:rPr>
              <a:t>feasible solves, both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AEEF6"/>
                </a:solidFill>
                <a:latin typeface="Consolas"/>
              </a:rPr>
              <a:t>60s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971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AA5BF"/>
                </a:solidFill>
                <a:latin typeface="Segoe UI"/>
              </a:rPr>
              <a:t>solve budget per route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94360" y="3703320"/>
          <a:ext cx="1097280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97598"/>
                </a:solidFill>
                <a:latin typeface="Segoe UI"/>
              </a:rPr>
              <a:t>Scoring metric: ERP-based sequence-deviation (Merchan et al., 2021) — a byte-verified, line-for-line port of the official MIT-CAVE/rc-cli scorer.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12 / 15  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AEEF6"/>
                </a:solidFill>
                <a:latin typeface="Segoe UI"/>
              </a:rPr>
              <a:t>Container-ready, not just laptop-ready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5BF"/>
                </a:solidFill>
                <a:latin typeface="Segoe UI"/>
              </a:rPr>
              <a:t>A Dockerfile packages the dashboard so it runs anywhere with one command — no local Python setup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141B2C"/>
          </a:solidFill>
          <a:ln w="9525">
            <a:solidFill>
              <a:srgbClr val="2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19456" rIns="201168"/>
          <a:lstStyle/>
          <a:p>
            <a:pPr algn="ctr"/>
            <a:r>
              <a:rPr sz="1050" b="1" i="0">
                <a:solidFill>
                  <a:srgbClr val="FF8A45"/>
                </a:solidFill>
                <a:latin typeface="Consolas"/>
              </a:rPr>
              <a:t>RUN THE DASHBOARD</a:t>
            </a:r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sz="1250" b="0" i="0">
                <a:solidFill>
                  <a:srgbClr val="EAEEF6"/>
                </a:solidFill>
                <a:latin typeface="Consolas"/>
              </a:rPr>
              <a:t>docker build -t last-mile-routing .
docker run -p 8501:8501 last-mile-routing
# open http://localhost:8501</a:t>
            </a:r>
          </a:p>
          <a:p>
            <a:pPr>
              <a:spcBef>
                <a:spcPts val="2000"/>
              </a:spcBef>
            </a:pPr>
            <a:r>
              <a:rPr sz="1050" b="1" i="0">
                <a:solidFill>
                  <a:srgbClr val="FF8A45"/>
                </a:solidFill>
                <a:latin typeface="Consolas"/>
              </a:rPr>
              <a:t>RUN THE CLI PIPELINE</a:t>
            </a:r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sz="1250" b="0" i="0">
                <a:solidFill>
                  <a:srgbClr val="EAEEF6"/>
                </a:solidFill>
                <a:latin typeface="Consolas"/>
              </a:rPr>
              <a:t>docker run -v "$(pwd)/data:/app/data" \
  last-mile-routing python src/model_apply.py \
  --route-id ROUTE_ID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14884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EAEEF6"/>
                </a:solidFill>
                <a:latin typeface="Segoe UI"/>
              </a:rPr>
              <a:t>Runs standalone out of the box.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The image bundles the same small, git-committed data/deploy/ subset the live Streamlit Cloud demo uses — no 568MB dataset download needed to see it work.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EAEEF6"/>
                </a:solidFill>
                <a:latin typeface="Segoe UI"/>
              </a:rPr>
              <a:t>Full dataset via bind mount.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The CLI pipeline commands need the full processed dataset, which isn't baked into the image — it's mounted in at run time instead.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EAEEF6"/>
                </a:solidFill>
                <a:latin typeface="Segoe UI"/>
              </a:rPr>
              <a:t>python:3.11-slim, not the brief’s literal "Ubuntu 20.04."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A documented, deliberate deviation — every dependency here has a prebuilt Linux wheel, so a slim Python base needs no manual toolchain setup.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EAEEF6"/>
                </a:solidFill>
                <a:latin typeface="Segoe UI"/>
              </a:rPr>
              <a:t>Verified end-to-end, not just written. </a:t>
            </a:r>
            <a:r>
              <a:rPr sz="1250" b="0" i="0">
                <a:solidFill>
                  <a:srgbClr val="9AA5BF"/>
                </a:solidFill>
                <a:latin typeface="Segoe UI"/>
              </a:rPr>
              <a:t>A real docker build + docker run, confirming the dashboard serves and solves correctly inside the container.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13 / 15   ENGINEERING RIGOR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AEEF6"/>
                </a:solidFill>
                <a:latin typeface="Segoe UI"/>
              </a:rPr>
              <a:t>Built to be believed, not just demoed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5BF"/>
                </a:solidFill>
                <a:latin typeface="Segoe UI"/>
              </a:rPr>
              <a:t>Every number above comes with its own honest asterisk — documented in the repo, not hidden from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10881360" cy="12700"/>
          </a:xfrm>
          <a:prstGeom prst="rect">
            <a:avLst/>
          </a:prstGeom>
          <a:solidFill>
            <a:srgbClr val="2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7685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8A45"/>
                </a:solidFill>
                <a:latin typeface="Consolas"/>
              </a:rPr>
              <a:t>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258568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AA5BF"/>
                </a:solidFill>
                <a:latin typeface="Segoe UI"/>
              </a:rPr>
              <a:t>Feasibility is ~90%, not 100%, at a 15-second solve budget — 3/30 sampled routes came back infeasible almost instantly. Not yet root-caused. At the 60-second budget used for the headline number, feasibility was 15/15.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27832"/>
            <a:ext cx="10881360" cy="12700"/>
          </a:xfrm>
          <a:prstGeom prst="rect">
            <a:avLst/>
          </a:prstGeom>
          <a:solidFill>
            <a:srgbClr val="2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5584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8A45"/>
                </a:solidFill>
                <a:latin typeface="Consolas"/>
              </a:rPr>
              <a:t>ML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337560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AA5BF"/>
                </a:solidFill>
                <a:latin typeface="Segoe UI"/>
              </a:rPr>
              <a:t>An XGBoost per-stop difficulty model was tried and dropped — it never reached a usable validation R² (best: −0.0424). Kept in the repo as documented, unused exploration; a lightweight empirical zone-transition penalty is used instead.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306824"/>
            <a:ext cx="10881360" cy="12700"/>
          </a:xfrm>
          <a:prstGeom prst="rect">
            <a:avLst/>
          </a:prstGeom>
          <a:solidFill>
            <a:srgbClr val="2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8A45"/>
                </a:solidFill>
                <a:latin typeface="Consolas"/>
              </a:rPr>
              <a:t>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416552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AA5BF"/>
                </a:solidFill>
                <a:latin typeface="Segoe UI"/>
              </a:rPr>
              <a:t>Results are time-budget sensitive — the same route can score meaningfully differently at 20s vs. 60s. Expected behavior for the Guided Local Search metaheuristic under a fixed wall-clock limit, not a bug.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385816"/>
            <a:ext cx="10881360" cy="12700"/>
          </a:xfrm>
          <a:prstGeom prst="rect">
            <a:avLst/>
          </a:prstGeom>
          <a:solidFill>
            <a:srgbClr val="2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51383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8A45"/>
                </a:solidFill>
                <a:latin typeface="Consolas"/>
              </a:rPr>
              <a:t>CUSTOM 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5495544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AA5BF"/>
                </a:solidFill>
                <a:latin typeface="Segoe UI"/>
              </a:rPr>
              <a:t>The “build your own route” mode currently gets baseline treatment only — the zone-penalty model needs historical data tied to dataset zones, which arbitrary addresses don't have.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8A45"/>
                </a:solidFill>
                <a:latin typeface="Consolas"/>
              </a:rPr>
              <a:t>14 / 15  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94944"/>
            <a:ext cx="365760" cy="25400"/>
          </a:xfrm>
          <a:prstGeom prst="rect">
            <a:avLst/>
          </a:prstGeom>
          <a:solidFill>
            <a:srgbClr val="FF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AEEF6"/>
                </a:solidFill>
                <a:latin typeface="Segoe UI"/>
              </a:rPr>
              <a:t>Where this goes from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Score the full evaluation set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— 3,052 routes, beyond the current 15-route sample.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Root-cause the ~10% solver infeasibility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at short solve budgets.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Investigate the scoring-time outlier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— one 194-stop route took 1,408s to score vs. 15–18s typical.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82880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Design a real benchmark for fleet mode —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there's no official score for a multi-vehicle split today.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Extend zone penalties to custom routes,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beyond the dataset's own zones.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 b="0" i="0">
                <a:solidFill>
                  <a:srgbClr val="FF8A45"/>
                </a:solidFill>
                <a:latin typeface="Segoe UI"/>
              </a:rPr>
              <a:t>●  </a:t>
            </a:r>
            <a:r>
              <a:rPr sz="1450" b="1" i="0">
                <a:solidFill>
                  <a:srgbClr val="EAEEF6"/>
                </a:solidFill>
                <a:latin typeface="Segoe UI"/>
              </a:rPr>
              <a:t>Stretch goal: </a:t>
            </a:r>
            <a:r>
              <a:rPr sz="1450" b="0" i="0">
                <a:solidFill>
                  <a:srgbClr val="9AA5BF"/>
                </a:solidFill>
                <a:latin typeface="Segoe UI"/>
              </a:rPr>
              <a:t>a PPM Markov sequence model, scoped out of this MVP.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EAEEF6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97598"/>
                </a:solidFill>
                <a:latin typeface="Consolas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